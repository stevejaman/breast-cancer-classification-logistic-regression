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Merriweather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22" Type="http://schemas.openxmlformats.org/officeDocument/2006/relationships/font" Target="fonts/Merriweather-italic.fntdata"/><Relationship Id="rId21" Type="http://schemas.openxmlformats.org/officeDocument/2006/relationships/font" Target="fonts/Merriweather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27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90286" y="3224137"/>
            <a:ext cx="1101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6F0"/>
                </a:solidFill>
                <a:latin typeface="Merriweather"/>
                <a:ea typeface="Merriweather"/>
                <a:cs typeface="Merriweather"/>
                <a:sym typeface="Merriweather"/>
              </a:rPr>
              <a:t>Breast Cancer Classification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852462" y="4376662"/>
            <a:ext cx="1048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6F0"/>
                </a:solidFill>
                <a:latin typeface="DM Sans"/>
                <a:ea typeface="DM Sans"/>
                <a:cs typeface="DM Sans"/>
                <a:sym typeface="DM Sans"/>
              </a:rPr>
              <a:t>A Data Analysis Project Using Logistic Regression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8F6F0"/>
                </a:solidFill>
                <a:latin typeface="DM Sans"/>
                <a:ea typeface="DM Sans"/>
                <a:cs typeface="DM Sans"/>
                <a:sym typeface="DM Sans"/>
              </a:rPr>
              <a:t> Anthony Nguyen &amp; Steven Marsh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90261" y="1650062"/>
            <a:ext cx="1101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8F6F0"/>
                </a:solidFill>
                <a:latin typeface="Merriweather"/>
                <a:ea typeface="Merriweather"/>
                <a:cs typeface="Merriweather"/>
                <a:sym typeface="Merriweather"/>
              </a:rPr>
              <a:t>Team: NaN Sense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448626" y="316349"/>
            <a:ext cx="96309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2429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4274"/>
              </a:buClr>
              <a:buSzPts val="3210"/>
              <a:buFont typeface="Merriweather"/>
              <a:buAutoNum type="arabicPeriod"/>
            </a:pPr>
            <a:r>
              <a:rPr b="1" i="0" lang="en-US" sz="3209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Intro</a:t>
            </a:r>
            <a:r>
              <a:rPr b="1" lang="en-US" sz="3209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duction: </a:t>
            </a:r>
            <a:r>
              <a:rPr b="1" i="0" lang="en-US" sz="3209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Project Goal</a:t>
            </a:r>
            <a:endParaRPr sz="1497"/>
          </a:p>
        </p:txBody>
      </p:sp>
      <p:sp>
        <p:nvSpPr>
          <p:cNvPr id="92" name="Google Shape;92;p14"/>
          <p:cNvSpPr txBox="1"/>
          <p:nvPr/>
        </p:nvSpPr>
        <p:spPr>
          <a:xfrm>
            <a:off x="448639" y="1223431"/>
            <a:ext cx="10898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7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Project Question:</a:t>
            </a:r>
            <a:endParaRPr sz="1779"/>
          </a:p>
        </p:txBody>
      </p:sp>
      <p:sp>
        <p:nvSpPr>
          <p:cNvPr id="93" name="Google Shape;93;p14"/>
          <p:cNvSpPr txBox="1"/>
          <p:nvPr/>
        </p:nvSpPr>
        <p:spPr>
          <a:xfrm>
            <a:off x="448639" y="1906878"/>
            <a:ext cx="1144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Can we accurately predict if a breast tumor is Benign or Malignant using only cell measurements?</a:t>
            </a:r>
            <a:endParaRPr sz="2400"/>
          </a:p>
        </p:txBody>
      </p:sp>
      <p:sp>
        <p:nvSpPr>
          <p:cNvPr id="94" name="Google Shape;94;p14"/>
          <p:cNvSpPr txBox="1"/>
          <p:nvPr/>
        </p:nvSpPr>
        <p:spPr>
          <a:xfrm>
            <a:off x="448639" y="3100421"/>
            <a:ext cx="10898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7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endParaRPr sz="1779"/>
          </a:p>
        </p:txBody>
      </p:sp>
      <p:sp>
        <p:nvSpPr>
          <p:cNvPr id="95" name="Google Shape;95;p14"/>
          <p:cNvSpPr txBox="1"/>
          <p:nvPr/>
        </p:nvSpPr>
        <p:spPr>
          <a:xfrm>
            <a:off x="448639" y="3742231"/>
            <a:ext cx="10898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7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To build and </a:t>
            </a:r>
            <a:r>
              <a:rPr b="1" i="0" lang="en-US" sz="1907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interpret</a:t>
            </a:r>
            <a:r>
              <a:rPr b="0" i="0" lang="en-US" sz="1907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a Logistic Regression model to classify tumors from the WDBC dataset.</a:t>
            </a:r>
            <a:endParaRPr sz="1779"/>
          </a:p>
        </p:txBody>
      </p:sp>
      <p:sp>
        <p:nvSpPr>
          <p:cNvPr id="96" name="Google Shape;96;p14"/>
          <p:cNvSpPr txBox="1"/>
          <p:nvPr/>
        </p:nvSpPr>
        <p:spPr>
          <a:xfrm>
            <a:off x="448639" y="4468807"/>
            <a:ext cx="10898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7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Dataset:</a:t>
            </a:r>
            <a:endParaRPr sz="1779"/>
          </a:p>
        </p:txBody>
      </p:sp>
      <p:sp>
        <p:nvSpPr>
          <p:cNvPr id="97" name="Google Shape;97;p14"/>
          <p:cNvSpPr txBox="1"/>
          <p:nvPr/>
        </p:nvSpPr>
        <p:spPr>
          <a:xfrm>
            <a:off x="448639" y="5110617"/>
            <a:ext cx="10898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7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Wisconsin Diagnostic Breast Cancer (WDBC) - 569 patient samples, 30 quantitative features.</a:t>
            </a:r>
            <a:endParaRPr sz="177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145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194786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The Problem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481249"/>
            <a:ext cx="5286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Before modeling, we can see the data shows a clear separation between classes. This histogram plots the radius_mean</a:t>
            </a:r>
            <a:r>
              <a:rPr lang="en-US" sz="150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feature: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71963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This visible distinction confirms that our features are highly predictive and that a classification model should be very effective.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352901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Benign (B)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tumors cluster with a smaller radius.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39576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Malignant (M)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tumors (the red curve) show a significantly larger and wider-spread radius.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529012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3957637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Introduction: The Data</a:t>
            </a:r>
            <a:endParaRPr/>
          </a:p>
        </p:txBody>
      </p:sp>
      <p:pic>
        <p:nvPicPr>
          <p:cNvPr id="111" name="Google Shape;111;p15" title="Feature_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9600" y="1827687"/>
            <a:ext cx="5055424" cy="40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571500" y="383857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0042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07968" y="4143375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1. Clean &amp; Prep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4591050"/>
            <a:ext cx="254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Load wdbc.data.csv, encode target (M/B → 1/0), and apply StandardScaler to all 30 features.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343888" y="2286000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2. Split Data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3407419" y="2733675"/>
            <a:ext cx="2541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Separate data into 70% Training (398) and 30% Testing (171) sets to prevent overfitting.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179808" y="4143375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3. Train Model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243339" y="4591050"/>
            <a:ext cx="2541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Fit a Logistic Regression model on the training data to learn the feature patterns.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015728" y="2286000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4. Evaluate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079259" y="2733675"/>
            <a:ext cx="2541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Test the model on unseen data to generate performance metrics and visualizations.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2. </a:t>
            </a: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Analysis Plan &amp; Methodology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727820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8F6F0"/>
          </a:solidFill>
          <a:ln cap="flat" cmpd="sng" w="38100">
            <a:solidFill>
              <a:srgbClr val="004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563740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8F6F0"/>
          </a:solidFill>
          <a:ln cap="flat" cmpd="sng" w="38100">
            <a:solidFill>
              <a:srgbClr val="004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399659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8F6F0"/>
          </a:solidFill>
          <a:ln cap="flat" cmpd="sng" w="38100">
            <a:solidFill>
              <a:srgbClr val="004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0235579" y="37433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8F6F0"/>
          </a:solidFill>
          <a:ln cap="flat" cmpd="sng" w="38100">
            <a:solidFill>
              <a:srgbClr val="0042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5619750" y="2852737"/>
            <a:ext cx="952500" cy="38100"/>
          </a:xfrm>
          <a:prstGeom prst="rect">
            <a:avLst/>
          </a:prstGeom>
          <a:solidFill>
            <a:srgbClr val="0042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2330529" y="3176587"/>
            <a:ext cx="753094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3. Results &amp; Visualizations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640763" y="2988025"/>
            <a:ext cx="57384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97.66%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952513" y="4624387"/>
            <a:ext cx="51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Accuracy on Test Data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7419975" y="3090862"/>
            <a:ext cx="42005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0.9977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158688" y="4624375"/>
            <a:ext cx="272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Area Under Curve (AUC)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Model Performance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145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571500" y="180498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Precision &amp; Recall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233838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The model is highly reliable, with very few errors on the 171 test samples: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71500" y="5148247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Malignant Recall: 95.3%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(61 / 64)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Malignant Precision: 98.4%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(61 / 62)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857250" y="310038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True Benign (TN): 106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57250" y="352901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False Positive (FP): 1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(Only 1 benign tumor misclassified)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857250" y="39576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False Negative (FN): 3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(Only 3 malignant tumors missed)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857250" y="4672012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True Malignant (TP): 61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71500" y="3100387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71500" y="3529012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3957637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4672012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Classification Details</a:t>
            </a:r>
            <a:endParaRPr/>
          </a:p>
        </p:txBody>
      </p:sp>
      <p:pic>
        <p:nvPicPr>
          <p:cNvPr id="162" name="Google Shape;162;p19" title="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7000" y="1774034"/>
            <a:ext cx="5000625" cy="4167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145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571500" y="2686050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Area Under the Curve (AUC)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71500" y="3219450"/>
            <a:ext cx="52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The model achieves an </a:t>
            </a: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AUC of 0.9977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3695700"/>
            <a:ext cx="5286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 score this close to 1.0 indicates a near-perfect ability to distinguish between Benign and Malignant cases across all possible decision thresholds, confirming its high reliability for medical diagnosis.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Model Robustness (ROC Curve)</a:t>
            </a:r>
            <a:endParaRPr/>
          </a:p>
        </p:txBody>
      </p:sp>
      <p:pic>
        <p:nvPicPr>
          <p:cNvPr id="172" name="Google Shape;172;p20" title="ROC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5500" y="1793138"/>
            <a:ext cx="5023625" cy="41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6026" y="1047751"/>
            <a:ext cx="5649174" cy="55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571500" y="18954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Correlation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24288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This heatmap ranks all 30 features by their linear relationship to a Malignant diagnosis (value of 1).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31908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Key Insight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71500" y="3724275"/>
            <a:ext cx="5286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Features related to </a:t>
            </a:r>
            <a:r>
              <a:rPr b="1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size and irregularity </a:t>
            </a: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(e.g., concave points_worst, perimeter_worst) show the strongest positive correlation (dark red), increasing the likelihood of malignancy.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571500" y="5184675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Features like smoothness_se show almost no correlation (white/blue).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Why Does it Work? (Correlation)</a:t>
            </a:r>
            <a:endParaRPr/>
          </a:p>
        </p:txBody>
      </p:sp>
      <p:pic>
        <p:nvPicPr>
          <p:cNvPr id="184" name="Google Shape;184;p21" title="Correlation_Heat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4747" y="1163337"/>
            <a:ext cx="5371731" cy="52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4375" y="1640663"/>
            <a:ext cx="5943125" cy="41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571500" y="11906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Model Coefficients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571500" y="17240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This chart shows the "weight" or "influence" the Logistic Regression model assigned to each feature. The larger the bar, the greater its impact on the prediction.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71500" y="27717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Top 5 Predictors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330517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The model's decision is most influenced by the "worst" (most extreme) measurements and the "se" (standard error) of features: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1143000" y="4352925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texture_worst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143000" y="47815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radius_se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1143000" y="5210175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symmetry_worst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143000" y="56388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area_se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143000" y="6067425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area_worst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857250" y="4352925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857250" y="4781550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57250" y="5210175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857250" y="5638800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857250" y="6067425"/>
            <a:ext cx="85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4274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333375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Top Predictive Features</a:t>
            </a:r>
            <a:endParaRPr/>
          </a:p>
        </p:txBody>
      </p:sp>
      <p:pic>
        <p:nvPicPr>
          <p:cNvPr id="205" name="Google Shape;205;p22" title="Coefficient_Importa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7100" y="1732587"/>
            <a:ext cx="5717675" cy="400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/>
          <p:nvPr/>
        </p:nvSpPr>
        <p:spPr>
          <a:xfrm>
            <a:off x="5619750" y="2852737"/>
            <a:ext cx="952500" cy="38100"/>
          </a:xfrm>
          <a:prstGeom prst="rect">
            <a:avLst/>
          </a:prstGeom>
          <a:solidFill>
            <a:srgbClr val="0042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2315527" y="3176587"/>
            <a:ext cx="756094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4. Conclusion &amp; Reflection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09775"/>
            <a:ext cx="3429000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09775"/>
            <a:ext cx="3429000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009775"/>
            <a:ext cx="342900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945832" y="3028950"/>
            <a:ext cx="268033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Answered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876300" y="3686175"/>
            <a:ext cx="2819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Yes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, a </a:t>
            </a:r>
            <a:r>
              <a:rPr lang="en-US" sz="135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tumor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diagnosis can be accurately predicted (97.66% Acc, 0.9977 AUC) using only its cell nuclei measurements.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5295900" y="302895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Key Insight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4686300" y="3686175"/>
            <a:ext cx="2819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1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worst-case texture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, along with </a:t>
            </a:r>
            <a:r>
              <a:rPr b="1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size variability (se)</a:t>
            </a:r>
            <a:r>
              <a:rPr lang="en-US" sz="1350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and </a:t>
            </a:r>
            <a:r>
              <a:rPr b="1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irregularity (worst)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, are the most dominant predictive factors.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8745855" y="3028950"/>
            <a:ext cx="23202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Impact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8496300" y="3686175"/>
            <a:ext cx="2819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This project demonstrates the complete analysis pipeline, from data cleaning and scaling (StandardScaler) to building and </a:t>
            </a:r>
            <a:r>
              <a:rPr b="1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interpreting</a:t>
            </a:r>
            <a:r>
              <a:rPr b="0" i="0" lang="en-US" sz="13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an explainable model.</a:t>
            </a:r>
            <a:endParaRPr/>
          </a:p>
        </p:txBody>
      </p:sp>
      <p:pic>
        <p:nvPicPr>
          <p:cNvPr descr="image.png" id="225" name="Google Shape;2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5975" y="23336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4550" y="23336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0" y="23336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Final Summary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6F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/>
        </p:nvSpPr>
        <p:spPr>
          <a:xfrm>
            <a:off x="1532895" y="2127138"/>
            <a:ext cx="101508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8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Try Other Models:</a:t>
            </a:r>
            <a:r>
              <a:rPr b="0" i="0" lang="en-US" sz="1858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Compare Logistic Regression against non-linear models like a Random Forest or Support Vector Machine (SVM) to see if accuracy can be improved.</a:t>
            </a:r>
            <a:endParaRPr sz="1734"/>
          </a:p>
        </p:txBody>
      </p:sp>
      <p:sp>
        <p:nvSpPr>
          <p:cNvPr id="234" name="Google Shape;234;p25"/>
          <p:cNvSpPr txBox="1"/>
          <p:nvPr/>
        </p:nvSpPr>
        <p:spPr>
          <a:xfrm>
            <a:off x="1532895" y="3071401"/>
            <a:ext cx="101508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8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Feature Reduction:</a:t>
            </a:r>
            <a:r>
              <a:rPr b="0" i="0" lang="en-US" sz="1858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Use a technique like RFE (Recursive Feature Elimination) to build a simpler, faster model using only the top 5-10 features.</a:t>
            </a:r>
            <a:endParaRPr sz="1734"/>
          </a:p>
        </p:txBody>
      </p:sp>
      <p:sp>
        <p:nvSpPr>
          <p:cNvPr id="235" name="Google Shape;235;p25"/>
          <p:cNvSpPr txBox="1"/>
          <p:nvPr/>
        </p:nvSpPr>
        <p:spPr>
          <a:xfrm>
            <a:off x="1532895" y="4015665"/>
            <a:ext cx="101508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8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Hyperparameter Tuning:</a:t>
            </a:r>
            <a:r>
              <a:rPr b="0" i="0" lang="en-US" sz="1858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 Use GridSearchCV to find the optimal C parameter (regularization strength) for the Logistic Regression model to maximize performance.</a:t>
            </a:r>
            <a:endParaRPr sz="1734"/>
          </a:p>
        </p:txBody>
      </p:sp>
      <p:pic>
        <p:nvPicPr>
          <p:cNvPr descr="image.png" id="236" name="Google Shape;2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63" y="2186154"/>
            <a:ext cx="283279" cy="283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763" y="3130418"/>
            <a:ext cx="283279" cy="283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0763" y="4074681"/>
            <a:ext cx="283279" cy="28327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4274"/>
                </a:solidFill>
                <a:latin typeface="Merriweather"/>
                <a:ea typeface="Merriweather"/>
                <a:cs typeface="Merriweather"/>
                <a:sym typeface="Merriweather"/>
              </a:rPr>
              <a:t>Future Work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27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/>
        </p:nvSpPr>
        <p:spPr>
          <a:xfrm>
            <a:off x="295275" y="2581275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6F0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45" name="Google Shape;245;p26"/>
          <p:cNvSpPr txBox="1"/>
          <p:nvPr/>
        </p:nvSpPr>
        <p:spPr>
          <a:xfrm>
            <a:off x="571500" y="37528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